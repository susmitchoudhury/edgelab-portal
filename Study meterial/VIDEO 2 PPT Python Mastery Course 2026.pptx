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Agbalumo" charset="1" panose="00000000000000000000"/>
      <p:regular r:id="rId30"/>
    </p:embeddedFont>
    <p:embeddedFont>
      <p:font typeface="Bugaki" charset="1" panose="00000000000000000000"/>
      <p:regular r:id="rId31"/>
    </p:embeddedFont>
    <p:embeddedFont>
      <p:font typeface="Times New Roman MT" charset="1" panose="02030502070405020303"/>
      <p:regular r:id="rId32"/>
    </p:embeddedFont>
    <p:embeddedFont>
      <p:font typeface="Arimo" charset="1" panose="020B0604020202020204"/>
      <p:regular r:id="rId33"/>
    </p:embeddedFont>
    <p:embeddedFont>
      <p:font typeface="Canva Sans" charset="1" panose="020B0503030501040103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https://susmitchoudhury.github.io/edgelab-portal/" TargetMode="External" Type="http://schemas.openxmlformats.org/officeDocument/2006/relationships/hyperlink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https://susmitchoudhury.github.io/edgelab-portal/questions.html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37369" y="3052617"/>
            <a:ext cx="6040940" cy="3257935"/>
            <a:chOff x="0" y="0"/>
            <a:chExt cx="1591029" cy="8580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1029" cy="858057"/>
            </a:xfrm>
            <a:custGeom>
              <a:avLst/>
              <a:gdLst/>
              <a:ahLst/>
              <a:cxnLst/>
              <a:rect r="r" b="b" t="t" l="l"/>
              <a:pathLst>
                <a:path h="858057" w="1591029">
                  <a:moveTo>
                    <a:pt x="21787" y="0"/>
                  </a:moveTo>
                  <a:lnTo>
                    <a:pt x="1569243" y="0"/>
                  </a:lnTo>
                  <a:cubicBezTo>
                    <a:pt x="1575021" y="0"/>
                    <a:pt x="1580562" y="2295"/>
                    <a:pt x="1584648" y="6381"/>
                  </a:cubicBezTo>
                  <a:cubicBezTo>
                    <a:pt x="1588734" y="10467"/>
                    <a:pt x="1591029" y="16009"/>
                    <a:pt x="1591029" y="21787"/>
                  </a:cubicBezTo>
                  <a:lnTo>
                    <a:pt x="1591029" y="836270"/>
                  </a:lnTo>
                  <a:cubicBezTo>
                    <a:pt x="1591029" y="842048"/>
                    <a:pt x="1588734" y="847590"/>
                    <a:pt x="1584648" y="851676"/>
                  </a:cubicBezTo>
                  <a:cubicBezTo>
                    <a:pt x="1580562" y="855762"/>
                    <a:pt x="1575021" y="858057"/>
                    <a:pt x="1569243" y="858057"/>
                  </a:cubicBezTo>
                  <a:lnTo>
                    <a:pt x="21787" y="858057"/>
                  </a:lnTo>
                  <a:cubicBezTo>
                    <a:pt x="9754" y="858057"/>
                    <a:pt x="0" y="848303"/>
                    <a:pt x="0" y="836270"/>
                  </a:cubicBezTo>
                  <a:lnTo>
                    <a:pt x="0" y="21787"/>
                  </a:lnTo>
                  <a:cubicBezTo>
                    <a:pt x="0" y="16009"/>
                    <a:pt x="2295" y="10467"/>
                    <a:pt x="6381" y="6381"/>
                  </a:cubicBezTo>
                  <a:cubicBezTo>
                    <a:pt x="10467" y="2295"/>
                    <a:pt x="16009" y="0"/>
                    <a:pt x="217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91029" cy="896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41192" y="2925270"/>
            <a:ext cx="6633294" cy="317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43"/>
              </a:lnSpc>
              <a:spcBef>
                <a:spcPct val="0"/>
              </a:spcBef>
            </a:pPr>
            <a:r>
              <a:rPr lang="en-US" sz="8673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Welcome Back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75798" y="2759611"/>
            <a:ext cx="8636035" cy="622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8"/>
              </a:lnSpc>
            </a:pPr>
            <a:r>
              <a:rPr lang="en-US" sz="4427" spc="367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Today's Topics:</a:t>
            </a:r>
          </a:p>
          <a:p>
            <a:pPr algn="l">
              <a:lnSpc>
                <a:spcPts val="6198"/>
              </a:lnSpc>
            </a:pPr>
          </a:p>
          <a:p>
            <a:pPr algn="l">
              <a:lnSpc>
                <a:spcPts val="6198"/>
              </a:lnSpc>
            </a:pPr>
            <a:r>
              <a:rPr lang="en-US" sz="4427" spc="367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✓ What is Programming?</a:t>
            </a:r>
          </a:p>
          <a:p>
            <a:pPr algn="l">
              <a:lnSpc>
                <a:spcPts val="6198"/>
              </a:lnSpc>
            </a:pPr>
            <a:r>
              <a:rPr lang="en-US" sz="4427" spc="367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✓ Variables</a:t>
            </a:r>
          </a:p>
          <a:p>
            <a:pPr algn="l">
              <a:lnSpc>
                <a:spcPts val="6198"/>
              </a:lnSpc>
            </a:pPr>
            <a:r>
              <a:rPr lang="en-US" sz="4427" spc="367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✓ Data Types</a:t>
            </a:r>
          </a:p>
          <a:p>
            <a:pPr algn="l">
              <a:lnSpc>
                <a:spcPts val="6198"/>
              </a:lnSpc>
            </a:pPr>
            <a:r>
              <a:rPr lang="en-US" sz="4427" spc="367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✓ Arithmetic Operators</a:t>
            </a:r>
          </a:p>
          <a:p>
            <a:pPr algn="l">
              <a:lnSpc>
                <a:spcPts val="6198"/>
              </a:lnSpc>
            </a:pPr>
            <a:r>
              <a:rPr lang="en-US" sz="4427" spc="367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✓ Strings</a:t>
            </a:r>
          </a:p>
          <a:p>
            <a:pPr algn="l">
              <a:lnSpc>
                <a:spcPts val="6198"/>
              </a:lnSpc>
            </a:pPr>
            <a:r>
              <a:rPr lang="en-US" sz="4427" spc="367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✓ Type Conversion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368701" y="6104524"/>
            <a:ext cx="3206506" cy="3206506"/>
          </a:xfrm>
          <a:custGeom>
            <a:avLst/>
            <a:gdLst/>
            <a:ahLst/>
            <a:cxnLst/>
            <a:rect r="r" b="b" t="t" l="l"/>
            <a:pathLst>
              <a:path h="3206506" w="3206506">
                <a:moveTo>
                  <a:pt x="0" y="0"/>
                </a:moveTo>
                <a:lnTo>
                  <a:pt x="3206505" y="0"/>
                </a:lnTo>
                <a:lnTo>
                  <a:pt x="3206505" y="3206505"/>
                </a:lnTo>
                <a:lnTo>
                  <a:pt x="0" y="32065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122948" y="2244896"/>
            <a:ext cx="8042104" cy="8042104"/>
          </a:xfrm>
          <a:custGeom>
            <a:avLst/>
            <a:gdLst/>
            <a:ahLst/>
            <a:cxnLst/>
            <a:rect r="r" b="b" t="t" l="l"/>
            <a:pathLst>
              <a:path h="8042104" w="8042104">
                <a:moveTo>
                  <a:pt x="0" y="0"/>
                </a:moveTo>
                <a:lnTo>
                  <a:pt x="8042104" y="0"/>
                </a:lnTo>
                <a:lnTo>
                  <a:pt x="8042104" y="8042104"/>
                </a:lnTo>
                <a:lnTo>
                  <a:pt x="0" y="80421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656496" y="3925811"/>
            <a:ext cx="4159066" cy="97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65"/>
              </a:lnSpc>
              <a:spcBef>
                <a:spcPct val="0"/>
              </a:spcBef>
            </a:pPr>
            <a:r>
              <a:rPr lang="en-US" sz="5118" u="sng">
                <a:solidFill>
                  <a:srgbClr val="0277BC"/>
                </a:solidFill>
                <a:latin typeface="Bugaki"/>
                <a:ea typeface="Bugaki"/>
                <a:cs typeface="Bugaki"/>
                <a:sym typeface="Bugaki"/>
                <a:hlinkClick r:id="rId5" tooltip="https://susmitchoudhury.github.io/edgelab-portal/"/>
              </a:rPr>
              <a:t>Click here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555730" y="4902540"/>
            <a:ext cx="2360600" cy="2343432"/>
          </a:xfrm>
          <a:custGeom>
            <a:avLst/>
            <a:gdLst/>
            <a:ahLst/>
            <a:cxnLst/>
            <a:rect r="r" b="b" t="t" l="l"/>
            <a:pathLst>
              <a:path h="2343432" w="2360600">
                <a:moveTo>
                  <a:pt x="0" y="0"/>
                </a:moveTo>
                <a:lnTo>
                  <a:pt x="2360600" y="0"/>
                </a:lnTo>
                <a:lnTo>
                  <a:pt x="2360600" y="2343432"/>
                </a:lnTo>
                <a:lnTo>
                  <a:pt x="0" y="2343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10507" y="2217474"/>
            <a:ext cx="8866986" cy="5852051"/>
          </a:xfrm>
          <a:custGeom>
            <a:avLst/>
            <a:gdLst/>
            <a:ahLst/>
            <a:cxnLst/>
            <a:rect r="r" b="b" t="t" l="l"/>
            <a:pathLst>
              <a:path h="5852051" w="8866986">
                <a:moveTo>
                  <a:pt x="0" y="0"/>
                </a:moveTo>
                <a:lnTo>
                  <a:pt x="8866986" y="0"/>
                </a:lnTo>
                <a:lnTo>
                  <a:pt x="8866986" y="5852052"/>
                </a:lnTo>
                <a:lnTo>
                  <a:pt x="0" y="5852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5151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30123" y="4311688"/>
            <a:ext cx="2429245" cy="2411577"/>
          </a:xfrm>
          <a:custGeom>
            <a:avLst/>
            <a:gdLst/>
            <a:ahLst/>
            <a:cxnLst/>
            <a:rect r="r" b="b" t="t" l="l"/>
            <a:pathLst>
              <a:path h="2411577" w="2429245">
                <a:moveTo>
                  <a:pt x="0" y="0"/>
                </a:moveTo>
                <a:lnTo>
                  <a:pt x="2429245" y="0"/>
                </a:lnTo>
                <a:lnTo>
                  <a:pt x="2429245" y="2411577"/>
                </a:lnTo>
                <a:lnTo>
                  <a:pt x="0" y="24115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87732" y="8069526"/>
            <a:ext cx="8689761" cy="1101371"/>
          </a:xfrm>
          <a:custGeom>
            <a:avLst/>
            <a:gdLst/>
            <a:ahLst/>
            <a:cxnLst/>
            <a:rect r="r" b="b" t="t" l="l"/>
            <a:pathLst>
              <a:path h="1101371" w="8689761">
                <a:moveTo>
                  <a:pt x="0" y="0"/>
                </a:moveTo>
                <a:lnTo>
                  <a:pt x="8689761" y="0"/>
                </a:lnTo>
                <a:lnTo>
                  <a:pt x="8689761" y="1101371"/>
                </a:lnTo>
                <a:lnTo>
                  <a:pt x="0" y="11013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88994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220851" y="3413833"/>
            <a:ext cx="3847789" cy="89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9"/>
              </a:lnSpc>
              <a:spcBef>
                <a:spcPct val="0"/>
              </a:spcBef>
            </a:pPr>
            <a:r>
              <a:rPr lang="en-US" sz="4735" u="sng">
                <a:solidFill>
                  <a:srgbClr val="0277BC"/>
                </a:solidFill>
                <a:latin typeface="Bugaki"/>
                <a:ea typeface="Bugaki"/>
                <a:cs typeface="Bugaki"/>
                <a:sym typeface="Bugaki"/>
                <a:hlinkClick r:id="rId7" tooltip="https://susmitchoudhury.github.io/edgelab-portal/questions.html"/>
              </a:rPr>
              <a:t>Click here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12956" y="2835811"/>
            <a:ext cx="6795787" cy="4530525"/>
          </a:xfrm>
          <a:custGeom>
            <a:avLst/>
            <a:gdLst/>
            <a:ahLst/>
            <a:cxnLst/>
            <a:rect r="r" b="b" t="t" l="l"/>
            <a:pathLst>
              <a:path h="4530525" w="6795787">
                <a:moveTo>
                  <a:pt x="0" y="0"/>
                </a:moveTo>
                <a:lnTo>
                  <a:pt x="6795786" y="0"/>
                </a:lnTo>
                <a:lnTo>
                  <a:pt x="6795786" y="4530524"/>
                </a:lnTo>
                <a:lnTo>
                  <a:pt x="0" y="45305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5568" y="4139089"/>
            <a:ext cx="714325" cy="728081"/>
          </a:xfrm>
          <a:custGeom>
            <a:avLst/>
            <a:gdLst/>
            <a:ahLst/>
            <a:cxnLst/>
            <a:rect r="r" b="b" t="t" l="l"/>
            <a:pathLst>
              <a:path h="728081" w="714325">
                <a:moveTo>
                  <a:pt x="0" y="0"/>
                </a:moveTo>
                <a:lnTo>
                  <a:pt x="714325" y="0"/>
                </a:lnTo>
                <a:lnTo>
                  <a:pt x="714325" y="728081"/>
                </a:lnTo>
                <a:lnTo>
                  <a:pt x="0" y="7280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01506" y="2664361"/>
            <a:ext cx="7871817" cy="86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  <a:spcBef>
                <a:spcPct val="0"/>
              </a:spcBef>
            </a:pPr>
            <a:r>
              <a:rPr lang="en-US" sz="4580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What is Programming?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5568" y="3900964"/>
            <a:ext cx="8144623" cy="3509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1"/>
              </a:lnSpc>
            </a:pPr>
            <a:r>
              <a:rPr lang="en-US" sz="3880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         </a:t>
            </a:r>
            <a:r>
              <a:rPr lang="en-US" sz="3880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Programming is the process of creating a set of instructions that tells a computer exactly how to perform a task or solve a problem.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74960" y="2355694"/>
            <a:ext cx="6798780" cy="7498271"/>
          </a:xfrm>
          <a:custGeom>
            <a:avLst/>
            <a:gdLst/>
            <a:ahLst/>
            <a:cxnLst/>
            <a:rect r="r" b="b" t="t" l="l"/>
            <a:pathLst>
              <a:path h="7498271" w="6798780">
                <a:moveTo>
                  <a:pt x="0" y="0"/>
                </a:moveTo>
                <a:lnTo>
                  <a:pt x="6798780" y="0"/>
                </a:lnTo>
                <a:lnTo>
                  <a:pt x="6798780" y="7498271"/>
                </a:lnTo>
                <a:lnTo>
                  <a:pt x="0" y="7498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90" t="0" r="-1193" b="-162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1564" y="4293521"/>
            <a:ext cx="2980011" cy="2864739"/>
          </a:xfrm>
          <a:custGeom>
            <a:avLst/>
            <a:gdLst/>
            <a:ahLst/>
            <a:cxnLst/>
            <a:rect r="r" b="b" t="t" l="l"/>
            <a:pathLst>
              <a:path h="2864739" w="2980011">
                <a:moveTo>
                  <a:pt x="0" y="0"/>
                </a:moveTo>
                <a:lnTo>
                  <a:pt x="2980011" y="0"/>
                </a:lnTo>
                <a:lnTo>
                  <a:pt x="2980011" y="2864739"/>
                </a:lnTo>
                <a:lnTo>
                  <a:pt x="0" y="2864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580" t="-7064" r="-78664" b="-3111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21216" y="3724933"/>
            <a:ext cx="6832691" cy="3913713"/>
          </a:xfrm>
          <a:custGeom>
            <a:avLst/>
            <a:gdLst/>
            <a:ahLst/>
            <a:cxnLst/>
            <a:rect r="r" b="b" t="t" l="l"/>
            <a:pathLst>
              <a:path h="3913713" w="6832691">
                <a:moveTo>
                  <a:pt x="0" y="0"/>
                </a:moveTo>
                <a:lnTo>
                  <a:pt x="6832691" y="0"/>
                </a:lnTo>
                <a:lnTo>
                  <a:pt x="6832691" y="3913713"/>
                </a:lnTo>
                <a:lnTo>
                  <a:pt x="0" y="3913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57694" y="3038353"/>
            <a:ext cx="5455078" cy="25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8"/>
              </a:lnSpc>
              <a:spcBef>
                <a:spcPct val="0"/>
              </a:spcBef>
            </a:pPr>
            <a:r>
              <a:rPr lang="en-US" sz="6877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What is a Variable?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21216" y="3724933"/>
            <a:ext cx="6832691" cy="3913713"/>
          </a:xfrm>
          <a:custGeom>
            <a:avLst/>
            <a:gdLst/>
            <a:ahLst/>
            <a:cxnLst/>
            <a:rect r="r" b="b" t="t" l="l"/>
            <a:pathLst>
              <a:path h="3913713" w="6832691">
                <a:moveTo>
                  <a:pt x="0" y="0"/>
                </a:moveTo>
                <a:lnTo>
                  <a:pt x="6832691" y="0"/>
                </a:lnTo>
                <a:lnTo>
                  <a:pt x="6832691" y="3913713"/>
                </a:lnTo>
                <a:lnTo>
                  <a:pt x="0" y="3913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57694" y="3038353"/>
            <a:ext cx="5455078" cy="25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8"/>
              </a:lnSpc>
              <a:spcBef>
                <a:spcPct val="0"/>
              </a:spcBef>
            </a:pPr>
            <a:r>
              <a:rPr lang="en-US" sz="6877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What is a Variable?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47501" y="5577015"/>
            <a:ext cx="7914659" cy="189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  <a:spcBef>
                <a:spcPct val="0"/>
              </a:spcBef>
            </a:pPr>
            <a:r>
              <a:rPr lang="en-US" sz="5456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A variable is a container used to store data</a:t>
            </a:r>
            <a:r>
              <a:rPr lang="en-US" sz="5456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0445" y="2504088"/>
            <a:ext cx="5313121" cy="2988630"/>
          </a:xfrm>
          <a:custGeom>
            <a:avLst/>
            <a:gdLst/>
            <a:ahLst/>
            <a:cxnLst/>
            <a:rect r="r" b="b" t="t" l="l"/>
            <a:pathLst>
              <a:path h="2988630" w="5313121">
                <a:moveTo>
                  <a:pt x="0" y="0"/>
                </a:moveTo>
                <a:lnTo>
                  <a:pt x="5313120" y="0"/>
                </a:lnTo>
                <a:lnTo>
                  <a:pt x="5313120" y="2988631"/>
                </a:lnTo>
                <a:lnTo>
                  <a:pt x="0" y="2988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859214" y="2058172"/>
            <a:ext cx="11400086" cy="1298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8"/>
              </a:lnSpc>
              <a:spcBef>
                <a:spcPct val="0"/>
              </a:spcBef>
            </a:pPr>
            <a:r>
              <a:rPr lang="en-US" sz="6877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What is a Variable?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92490" y="3415204"/>
            <a:ext cx="10530516" cy="5843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  <a:spcBef>
                <a:spcPct val="0"/>
              </a:spcBef>
            </a:pPr>
            <a:r>
              <a:rPr lang="en-US" sz="54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54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named storage location in a computer's memory that holds data. This data, such as a number, text string, or object, can be accessed, updated, and changed while a program is running</a:t>
            </a:r>
            <a:r>
              <a:rPr lang="en-US" sz="54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 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6126" y="3006041"/>
            <a:ext cx="7765150" cy="4261948"/>
          </a:xfrm>
          <a:custGeom>
            <a:avLst/>
            <a:gdLst/>
            <a:ahLst/>
            <a:cxnLst/>
            <a:rect r="r" b="b" t="t" l="l"/>
            <a:pathLst>
              <a:path h="4261948" w="7765150">
                <a:moveTo>
                  <a:pt x="0" y="0"/>
                </a:moveTo>
                <a:lnTo>
                  <a:pt x="7765150" y="0"/>
                </a:lnTo>
                <a:lnTo>
                  <a:pt x="7765150" y="4261948"/>
                </a:lnTo>
                <a:lnTo>
                  <a:pt x="0" y="4261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0" t="0" r="-27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06330" y="2995822"/>
            <a:ext cx="7825938" cy="4272167"/>
          </a:xfrm>
          <a:custGeom>
            <a:avLst/>
            <a:gdLst/>
            <a:ahLst/>
            <a:cxnLst/>
            <a:rect r="r" b="b" t="t" l="l"/>
            <a:pathLst>
              <a:path h="4272167" w="7825938">
                <a:moveTo>
                  <a:pt x="0" y="0"/>
                </a:moveTo>
                <a:lnTo>
                  <a:pt x="7825938" y="0"/>
                </a:lnTo>
                <a:lnTo>
                  <a:pt x="7825938" y="4272167"/>
                </a:lnTo>
                <a:lnTo>
                  <a:pt x="0" y="42721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56480" y="4650486"/>
            <a:ext cx="944647" cy="962838"/>
          </a:xfrm>
          <a:custGeom>
            <a:avLst/>
            <a:gdLst/>
            <a:ahLst/>
            <a:cxnLst/>
            <a:rect r="r" b="b" t="t" l="l"/>
            <a:pathLst>
              <a:path h="962838" w="944647">
                <a:moveTo>
                  <a:pt x="0" y="0"/>
                </a:moveTo>
                <a:lnTo>
                  <a:pt x="944646" y="0"/>
                </a:lnTo>
                <a:lnTo>
                  <a:pt x="944646" y="962838"/>
                </a:lnTo>
                <a:lnTo>
                  <a:pt x="0" y="9628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721813" y="1926599"/>
            <a:ext cx="12844374" cy="107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6"/>
              </a:lnSpc>
              <a:spcBef>
                <a:spcPct val="0"/>
              </a:spcBef>
            </a:pPr>
            <a:r>
              <a:rPr lang="en-US" sz="5747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Why Do We Need Variables?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31427" y="2280010"/>
            <a:ext cx="11370098" cy="7181191"/>
          </a:xfrm>
          <a:custGeom>
            <a:avLst/>
            <a:gdLst/>
            <a:ahLst/>
            <a:cxnLst/>
            <a:rect r="r" b="b" t="t" l="l"/>
            <a:pathLst>
              <a:path h="7181191" w="11370098">
                <a:moveTo>
                  <a:pt x="0" y="0"/>
                </a:moveTo>
                <a:lnTo>
                  <a:pt x="11370098" y="0"/>
                </a:lnTo>
                <a:lnTo>
                  <a:pt x="11370098" y="7181191"/>
                </a:lnTo>
                <a:lnTo>
                  <a:pt x="0" y="71811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190" t="0" r="-12390" b="-854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07062" y="2457262"/>
            <a:ext cx="12897328" cy="7060144"/>
          </a:xfrm>
          <a:custGeom>
            <a:avLst/>
            <a:gdLst/>
            <a:ahLst/>
            <a:cxnLst/>
            <a:rect r="r" b="b" t="t" l="l"/>
            <a:pathLst>
              <a:path h="7060144" w="12897328">
                <a:moveTo>
                  <a:pt x="0" y="0"/>
                </a:moveTo>
                <a:lnTo>
                  <a:pt x="12897328" y="0"/>
                </a:lnTo>
                <a:lnTo>
                  <a:pt x="12897328" y="7060144"/>
                </a:lnTo>
                <a:lnTo>
                  <a:pt x="0" y="7060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8267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51555" y="2927231"/>
            <a:ext cx="5155756" cy="113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0"/>
              </a:lnSpc>
              <a:spcBef>
                <a:spcPct val="0"/>
              </a:spcBef>
            </a:pPr>
            <a:r>
              <a:rPr lang="en-US" sz="5936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K</a:t>
            </a:r>
            <a:r>
              <a:rPr lang="en-US" sz="5936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eywords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74995" y="3039291"/>
            <a:ext cx="12929395" cy="6219009"/>
          </a:xfrm>
          <a:custGeom>
            <a:avLst/>
            <a:gdLst/>
            <a:ahLst/>
            <a:cxnLst/>
            <a:rect r="r" b="b" t="t" l="l"/>
            <a:pathLst>
              <a:path h="6219009" w="12929395">
                <a:moveTo>
                  <a:pt x="0" y="0"/>
                </a:moveTo>
                <a:lnTo>
                  <a:pt x="12929395" y="0"/>
                </a:lnTo>
                <a:lnTo>
                  <a:pt x="12929395" y="6219009"/>
                </a:lnTo>
                <a:lnTo>
                  <a:pt x="0" y="62190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56" t="-118708" r="-3077" b="-69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51555" y="2927231"/>
            <a:ext cx="5155756" cy="113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0"/>
              </a:lnSpc>
              <a:spcBef>
                <a:spcPct val="0"/>
              </a:spcBef>
            </a:pPr>
            <a:r>
              <a:rPr lang="en-US" sz="5936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K</a:t>
            </a:r>
            <a:r>
              <a:rPr lang="en-US" sz="5936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eywords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78737" y="2442388"/>
            <a:ext cx="12206839" cy="6339927"/>
          </a:xfrm>
          <a:custGeom>
            <a:avLst/>
            <a:gdLst/>
            <a:ahLst/>
            <a:cxnLst/>
            <a:rect r="r" b="b" t="t" l="l"/>
            <a:pathLst>
              <a:path h="6339927" w="12206839">
                <a:moveTo>
                  <a:pt x="0" y="0"/>
                </a:moveTo>
                <a:lnTo>
                  <a:pt x="12206839" y="0"/>
                </a:lnTo>
                <a:lnTo>
                  <a:pt x="12206839" y="6339927"/>
                </a:lnTo>
                <a:lnTo>
                  <a:pt x="0" y="63399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3578737" y="2442388"/>
            <a:ext cx="3167261" cy="1341149"/>
            <a:chOff x="0" y="0"/>
            <a:chExt cx="834176" cy="3532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4176" cy="353224"/>
            </a:xfrm>
            <a:custGeom>
              <a:avLst/>
              <a:gdLst/>
              <a:ahLst/>
              <a:cxnLst/>
              <a:rect r="r" b="b" t="t" l="l"/>
              <a:pathLst>
                <a:path h="353224" w="834176">
                  <a:moveTo>
                    <a:pt x="0" y="0"/>
                  </a:moveTo>
                  <a:lnTo>
                    <a:pt x="834176" y="0"/>
                  </a:lnTo>
                  <a:lnTo>
                    <a:pt x="834176" y="353224"/>
                  </a:lnTo>
                  <a:lnTo>
                    <a:pt x="0" y="3532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34176" cy="39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38892" y="2199183"/>
            <a:ext cx="9758381" cy="7403396"/>
          </a:xfrm>
          <a:custGeom>
            <a:avLst/>
            <a:gdLst/>
            <a:ahLst/>
            <a:cxnLst/>
            <a:rect r="r" b="b" t="t" l="l"/>
            <a:pathLst>
              <a:path h="7403396" w="9758381">
                <a:moveTo>
                  <a:pt x="0" y="0"/>
                </a:moveTo>
                <a:lnTo>
                  <a:pt x="9758381" y="0"/>
                </a:lnTo>
                <a:lnTo>
                  <a:pt x="9758381" y="7403396"/>
                </a:lnTo>
                <a:lnTo>
                  <a:pt x="0" y="74033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36843" y="3305296"/>
            <a:ext cx="9167547" cy="4452488"/>
          </a:xfrm>
          <a:custGeom>
            <a:avLst/>
            <a:gdLst/>
            <a:ahLst/>
            <a:cxnLst/>
            <a:rect r="r" b="b" t="t" l="l"/>
            <a:pathLst>
              <a:path h="4452488" w="9167547">
                <a:moveTo>
                  <a:pt x="0" y="0"/>
                </a:moveTo>
                <a:lnTo>
                  <a:pt x="9167547" y="0"/>
                </a:lnTo>
                <a:lnTo>
                  <a:pt x="9167547" y="4452488"/>
                </a:lnTo>
                <a:lnTo>
                  <a:pt x="0" y="4452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91" t="-22886" r="-1297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453781" y="1903517"/>
            <a:ext cx="11380439" cy="113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82"/>
              </a:lnSpc>
              <a:spcBef>
                <a:spcPct val="0"/>
              </a:spcBef>
            </a:pPr>
            <a:r>
              <a:rPr lang="en-US" sz="6058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What Are Operators?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1506" y="3162421"/>
            <a:ext cx="7171071" cy="3380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5"/>
              </a:lnSpc>
              <a:spcBef>
                <a:spcPct val="0"/>
              </a:spcBef>
            </a:pPr>
            <a:r>
              <a:rPr lang="en-US" sz="3768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In computer science and mathematics, an operator is a symbol or keyword that tells the computer to perform a specific action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53316" y="4035532"/>
            <a:ext cx="10938559" cy="4979980"/>
          </a:xfrm>
          <a:custGeom>
            <a:avLst/>
            <a:gdLst/>
            <a:ahLst/>
            <a:cxnLst/>
            <a:rect r="r" b="b" t="t" l="l"/>
            <a:pathLst>
              <a:path h="4979980" w="10938559">
                <a:moveTo>
                  <a:pt x="0" y="0"/>
                </a:moveTo>
                <a:lnTo>
                  <a:pt x="10938559" y="0"/>
                </a:lnTo>
                <a:lnTo>
                  <a:pt x="10938559" y="4979980"/>
                </a:lnTo>
                <a:lnTo>
                  <a:pt x="0" y="49799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314752" y="2301783"/>
            <a:ext cx="13658496" cy="130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0"/>
              </a:lnSpc>
              <a:spcBef>
                <a:spcPct val="0"/>
              </a:spcBef>
            </a:pPr>
            <a:r>
              <a:rPr lang="en-US" sz="6850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What Are Operators?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30583" y="2480400"/>
            <a:ext cx="9642214" cy="6963821"/>
          </a:xfrm>
          <a:custGeom>
            <a:avLst/>
            <a:gdLst/>
            <a:ahLst/>
            <a:cxnLst/>
            <a:rect r="r" b="b" t="t" l="l"/>
            <a:pathLst>
              <a:path h="6963821" w="9642214">
                <a:moveTo>
                  <a:pt x="0" y="0"/>
                </a:moveTo>
                <a:lnTo>
                  <a:pt x="9642214" y="0"/>
                </a:lnTo>
                <a:lnTo>
                  <a:pt x="9642214" y="6963821"/>
                </a:lnTo>
                <a:lnTo>
                  <a:pt x="0" y="69638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05509" y="2542160"/>
            <a:ext cx="6901883" cy="3721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0"/>
              </a:lnSpc>
              <a:spcBef>
                <a:spcPct val="0"/>
              </a:spcBef>
            </a:pPr>
            <a:r>
              <a:rPr lang="en-US" sz="6850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What Are</a:t>
            </a:r>
          </a:p>
          <a:p>
            <a:pPr algn="ctr">
              <a:lnSpc>
                <a:spcPts val="9590"/>
              </a:lnSpc>
              <a:spcBef>
                <a:spcPct val="0"/>
              </a:spcBef>
            </a:pPr>
            <a:r>
              <a:rPr lang="en-US" sz="6850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types Operators?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549048" y="2025326"/>
            <a:ext cx="13848298" cy="651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23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Write a Python program that calculates the radius of a circle when given its circumference.</a:t>
            </a:r>
          </a:p>
          <a:p>
            <a:pPr algn="l">
              <a:lnSpc>
                <a:spcPts val="3726"/>
              </a:lnSpc>
            </a:pPr>
            <a:r>
              <a:rPr lang="en-US" sz="223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standard mathematical formula to find a radius (r) from a circumference (C) is:</a:t>
            </a:r>
          </a:p>
          <a:p>
            <a:pPr algn="l">
              <a:lnSpc>
                <a:spcPts val="3726"/>
              </a:lnSpc>
            </a:pPr>
          </a:p>
          <a:p>
            <a:pPr algn="l">
              <a:lnSpc>
                <a:spcPts val="3726"/>
              </a:lnSpc>
            </a:pPr>
          </a:p>
          <a:p>
            <a:pPr algn="l">
              <a:lnSpc>
                <a:spcPts val="3726"/>
              </a:lnSpc>
            </a:pPr>
          </a:p>
          <a:p>
            <a:pPr algn="l">
              <a:lnSpc>
                <a:spcPts val="3726"/>
              </a:lnSpc>
            </a:pPr>
            <a:r>
              <a:rPr lang="en-US" sz="223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For this problem, use a fixed value of (3.14) for (Pi).</a:t>
            </a:r>
          </a:p>
          <a:p>
            <a:pPr algn="l">
              <a:lnSpc>
                <a:spcPts val="3726"/>
              </a:lnSpc>
            </a:pPr>
          </a:p>
          <a:p>
            <a:pPr algn="l">
              <a:lnSpc>
                <a:spcPts val="3257"/>
              </a:lnSpc>
            </a:pPr>
            <a:r>
              <a:rPr lang="en-US" sz="223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Your Constraints -</a:t>
            </a:r>
          </a:p>
          <a:p>
            <a:pPr algn="l" marL="481758" indent="-240879" lvl="1">
              <a:lnSpc>
                <a:spcPts val="3726"/>
              </a:lnSpc>
              <a:buFont typeface="Arial"/>
              <a:buChar char="•"/>
            </a:pPr>
            <a:r>
              <a:rPr lang="en-US" sz="223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Python automatically creates a decimal number (float) when you perform division (/).</a:t>
            </a:r>
          </a:p>
          <a:p>
            <a:pPr algn="l" marL="481758" indent="-240879" lvl="1">
              <a:lnSpc>
                <a:spcPts val="3726"/>
              </a:lnSpc>
              <a:buFont typeface="Arial"/>
              <a:buChar char="•"/>
            </a:pPr>
            <a:r>
              <a:rPr lang="en-US" sz="223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Your final output must only be a whole number (int).</a:t>
            </a:r>
          </a:p>
          <a:p>
            <a:pPr algn="l" marL="481758" indent="-240879" lvl="1">
              <a:lnSpc>
                <a:spcPts val="3726"/>
              </a:lnSpc>
              <a:buFont typeface="Arial"/>
              <a:buChar char="•"/>
            </a:pPr>
            <a:r>
              <a:rPr lang="en-US" sz="223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 must write the normal mathematical formula first, and then convert the final result into an integer.</a:t>
            </a:r>
          </a:p>
          <a:p>
            <a:pPr algn="l" marL="481758" indent="-240879" lvl="1">
              <a:lnSpc>
                <a:spcPts val="3726"/>
              </a:lnSpc>
              <a:buFont typeface="Arial"/>
              <a:buChar char="•"/>
            </a:pPr>
            <a:r>
              <a:rPr lang="en-US" sz="223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Expected Inputs and Outputs</a:t>
            </a:r>
          </a:p>
          <a:p>
            <a:pPr algn="l" marL="481758" indent="-240879" lvl="1">
              <a:lnSpc>
                <a:spcPts val="3726"/>
              </a:lnSpc>
              <a:buFont typeface="Arial"/>
              <a:buChar char="•"/>
            </a:pPr>
            <a:r>
              <a:rPr lang="en-US" sz="223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If circumference = 62.8, the formula gives 10.0. Your program must output: 10</a:t>
            </a:r>
          </a:p>
          <a:p>
            <a:pPr algn="l" marL="481758" indent="-240879" lvl="1">
              <a:lnSpc>
                <a:spcPts val="3726"/>
              </a:lnSpc>
              <a:buFont typeface="Arial"/>
              <a:buChar char="•"/>
            </a:pPr>
            <a:r>
              <a:rPr lang="en-US" sz="223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If circumference = 35.0, the formula gives 5.573.... Your program must output: 5 [1]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251693" y="3168217"/>
            <a:ext cx="1784615" cy="979598"/>
          </a:xfrm>
          <a:custGeom>
            <a:avLst/>
            <a:gdLst/>
            <a:ahLst/>
            <a:cxnLst/>
            <a:rect r="r" b="b" t="t" l="l"/>
            <a:pathLst>
              <a:path h="979598" w="1784615">
                <a:moveTo>
                  <a:pt x="0" y="0"/>
                </a:moveTo>
                <a:lnTo>
                  <a:pt x="1784614" y="0"/>
                </a:lnTo>
                <a:lnTo>
                  <a:pt x="1784614" y="979598"/>
                </a:lnTo>
                <a:lnTo>
                  <a:pt x="0" y="979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55511" y="2139626"/>
            <a:ext cx="2853817" cy="3215568"/>
          </a:xfrm>
          <a:custGeom>
            <a:avLst/>
            <a:gdLst/>
            <a:ahLst/>
            <a:cxnLst/>
            <a:rect r="r" b="b" t="t" l="l"/>
            <a:pathLst>
              <a:path h="3215568" w="2853817">
                <a:moveTo>
                  <a:pt x="0" y="0"/>
                </a:moveTo>
                <a:lnTo>
                  <a:pt x="2853817" y="0"/>
                </a:lnTo>
                <a:lnTo>
                  <a:pt x="2853817" y="3215568"/>
                </a:lnTo>
                <a:lnTo>
                  <a:pt x="0" y="32155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20094" y="2360456"/>
            <a:ext cx="12677970" cy="6767999"/>
          </a:xfrm>
          <a:custGeom>
            <a:avLst/>
            <a:gdLst/>
            <a:ahLst/>
            <a:cxnLst/>
            <a:rect r="r" b="b" t="t" l="l"/>
            <a:pathLst>
              <a:path h="6767999" w="12677970">
                <a:moveTo>
                  <a:pt x="0" y="0"/>
                </a:moveTo>
                <a:lnTo>
                  <a:pt x="12677970" y="0"/>
                </a:lnTo>
                <a:lnTo>
                  <a:pt x="12677970" y="6767999"/>
                </a:lnTo>
                <a:lnTo>
                  <a:pt x="0" y="6767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184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309185"/>
            <a:ext cx="8580556" cy="6490421"/>
          </a:xfrm>
          <a:custGeom>
            <a:avLst/>
            <a:gdLst/>
            <a:ahLst/>
            <a:cxnLst/>
            <a:rect r="r" b="b" t="t" l="l"/>
            <a:pathLst>
              <a:path h="6490421" w="8580556">
                <a:moveTo>
                  <a:pt x="0" y="0"/>
                </a:moveTo>
                <a:lnTo>
                  <a:pt x="8580556" y="0"/>
                </a:lnTo>
                <a:lnTo>
                  <a:pt x="8580556" y="6490420"/>
                </a:lnTo>
                <a:lnTo>
                  <a:pt x="0" y="64904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39957" y="1975092"/>
            <a:ext cx="9179342" cy="1178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4"/>
              </a:lnSpc>
              <a:spcBef>
                <a:spcPct val="0"/>
              </a:spcBef>
            </a:pPr>
            <a:r>
              <a:rPr lang="en-US" sz="6195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What is a String?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0150" y="3527445"/>
            <a:ext cx="7036830" cy="316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7"/>
              </a:lnSpc>
              <a:spcBef>
                <a:spcPct val="0"/>
              </a:spcBef>
            </a:pPr>
            <a:r>
              <a:rPr lang="en-US" sz="362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string is typically a sequence of characters used to represent text, such as words, sentences, or symbols, in computer programming.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69201" y="3736297"/>
            <a:ext cx="12949598" cy="6125439"/>
          </a:xfrm>
          <a:custGeom>
            <a:avLst/>
            <a:gdLst/>
            <a:ahLst/>
            <a:cxnLst/>
            <a:rect r="r" b="b" t="t" l="l"/>
            <a:pathLst>
              <a:path h="6125439" w="12949598">
                <a:moveTo>
                  <a:pt x="0" y="0"/>
                </a:moveTo>
                <a:lnTo>
                  <a:pt x="12949598" y="0"/>
                </a:lnTo>
                <a:lnTo>
                  <a:pt x="12949598" y="6125440"/>
                </a:lnTo>
                <a:lnTo>
                  <a:pt x="0" y="61254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89870" y="2007928"/>
            <a:ext cx="12108261" cy="148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08"/>
              </a:lnSpc>
              <a:spcBef>
                <a:spcPct val="0"/>
              </a:spcBef>
            </a:pPr>
            <a:r>
              <a:rPr lang="en-US" sz="7792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What is a String?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51333" y="3484242"/>
            <a:ext cx="2177147" cy="2453123"/>
          </a:xfrm>
          <a:custGeom>
            <a:avLst/>
            <a:gdLst/>
            <a:ahLst/>
            <a:cxnLst/>
            <a:rect r="r" b="b" t="t" l="l"/>
            <a:pathLst>
              <a:path h="2453123" w="2177147">
                <a:moveTo>
                  <a:pt x="0" y="0"/>
                </a:moveTo>
                <a:lnTo>
                  <a:pt x="2177147" y="0"/>
                </a:lnTo>
                <a:lnTo>
                  <a:pt x="2177147" y="2453124"/>
                </a:lnTo>
                <a:lnTo>
                  <a:pt x="0" y="2453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24276" y="3484242"/>
            <a:ext cx="9878912" cy="6008517"/>
          </a:xfrm>
          <a:custGeom>
            <a:avLst/>
            <a:gdLst/>
            <a:ahLst/>
            <a:cxnLst/>
            <a:rect r="r" b="b" t="t" l="l"/>
            <a:pathLst>
              <a:path h="6008517" w="9878912">
                <a:moveTo>
                  <a:pt x="0" y="0"/>
                </a:moveTo>
                <a:lnTo>
                  <a:pt x="9878912" y="0"/>
                </a:lnTo>
                <a:lnTo>
                  <a:pt x="9878912" y="6008517"/>
                </a:lnTo>
                <a:lnTo>
                  <a:pt x="0" y="60085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51333" y="2191824"/>
            <a:ext cx="8185334" cy="1068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1"/>
              </a:lnSpc>
              <a:spcBef>
                <a:spcPct val="0"/>
              </a:spcBef>
            </a:pPr>
            <a:r>
              <a:rPr lang="en-US" sz="5615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Real World Example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4829" y="3051172"/>
            <a:ext cx="4196504" cy="456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8"/>
              </a:lnSpc>
            </a:pPr>
            <a:r>
              <a:rPr lang="en-US" sz="295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Product Price:</a:t>
            </a:r>
          </a:p>
          <a:p>
            <a:pPr algn="l">
              <a:lnSpc>
                <a:spcPts val="5178"/>
              </a:lnSpc>
            </a:pPr>
            <a:r>
              <a:rPr lang="en-US" sz="295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999</a:t>
            </a:r>
          </a:p>
          <a:p>
            <a:pPr algn="l">
              <a:lnSpc>
                <a:spcPts val="5178"/>
              </a:lnSpc>
            </a:pPr>
            <a:r>
              <a:rPr lang="en-US" sz="295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Tax:</a:t>
            </a:r>
          </a:p>
          <a:p>
            <a:pPr algn="l">
              <a:lnSpc>
                <a:spcPts val="5178"/>
              </a:lnSpc>
            </a:pPr>
            <a:r>
              <a:rPr lang="en-US" sz="295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18%</a:t>
            </a:r>
          </a:p>
          <a:p>
            <a:pPr algn="l">
              <a:lnSpc>
                <a:spcPts val="5178"/>
              </a:lnSpc>
            </a:pPr>
            <a:r>
              <a:rPr lang="en-US" sz="295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Calculate Final Price</a:t>
            </a:r>
          </a:p>
          <a:p>
            <a:pPr algn="l">
              <a:lnSpc>
                <a:spcPts val="5178"/>
              </a:lnSpc>
            </a:pPr>
            <a:r>
              <a:rPr lang="en-US" sz="295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Programming Solves Real Problems.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27064" y="4291077"/>
            <a:ext cx="4063376" cy="2903467"/>
          </a:xfrm>
          <a:custGeom>
            <a:avLst/>
            <a:gdLst/>
            <a:ahLst/>
            <a:cxnLst/>
            <a:rect r="r" b="b" t="t" l="l"/>
            <a:pathLst>
              <a:path h="2903467" w="4063376">
                <a:moveTo>
                  <a:pt x="0" y="0"/>
                </a:moveTo>
                <a:lnTo>
                  <a:pt x="4063376" y="0"/>
                </a:lnTo>
                <a:lnTo>
                  <a:pt x="4063376" y="2903467"/>
                </a:lnTo>
                <a:lnTo>
                  <a:pt x="0" y="2903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82458" y="2179512"/>
            <a:ext cx="6373016" cy="130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5"/>
              </a:lnSpc>
              <a:spcBef>
                <a:spcPct val="0"/>
              </a:spcBef>
            </a:pPr>
            <a:r>
              <a:rPr lang="en-US" sz="6911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H</a:t>
            </a:r>
            <a:r>
              <a:rPr lang="en-US" sz="6911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omework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82458" y="3995802"/>
            <a:ext cx="9716174" cy="575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88972" indent="-494486" lvl="1">
              <a:lnSpc>
                <a:spcPts val="7512"/>
              </a:lnSpc>
              <a:buFont typeface="Arial"/>
              <a:buChar char="•"/>
            </a:pPr>
            <a:r>
              <a:rPr lang="en-US" sz="458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Create 5 Variables</a:t>
            </a:r>
          </a:p>
          <a:p>
            <a:pPr algn="l" marL="988972" indent="-494486" lvl="1">
              <a:lnSpc>
                <a:spcPts val="7512"/>
              </a:lnSpc>
              <a:buFont typeface="Arial"/>
              <a:buChar char="•"/>
            </a:pPr>
            <a:r>
              <a:rPr lang="en-US" sz="458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Print Your Details</a:t>
            </a:r>
          </a:p>
          <a:p>
            <a:pPr algn="l" marL="988972" indent="-494486" lvl="1">
              <a:lnSpc>
                <a:spcPts val="7512"/>
              </a:lnSpc>
              <a:buFont typeface="Arial"/>
              <a:buChar char="•"/>
            </a:pPr>
            <a:r>
              <a:rPr lang="en-US" sz="458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Perform All Arithmetic Operations</a:t>
            </a:r>
          </a:p>
          <a:p>
            <a:pPr algn="l">
              <a:lnSpc>
                <a:spcPts val="7512"/>
              </a:lnSpc>
            </a:pPr>
            <a:r>
              <a:rPr lang="en-US" sz="458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from 12's to 19's table </a:t>
            </a:r>
          </a:p>
          <a:p>
            <a:pPr algn="l" marL="988972" indent="-494486" lvl="1">
              <a:lnSpc>
                <a:spcPts val="7512"/>
              </a:lnSpc>
              <a:buFont typeface="Arial"/>
              <a:buChar char="•"/>
            </a:pPr>
            <a:r>
              <a:rPr lang="en-US" sz="458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Create 5 String Examples</a:t>
            </a:r>
          </a:p>
          <a:p>
            <a:pPr algn="l" marL="988972" indent="-494486" lvl="1">
              <a:lnSpc>
                <a:spcPts val="7512"/>
              </a:lnSpc>
              <a:buFont typeface="Arial"/>
              <a:buChar char="•"/>
            </a:pPr>
            <a:r>
              <a:rPr lang="en-US" sz="458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Practice Type Conversion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875" y="523285"/>
            <a:ext cx="619301" cy="745931"/>
          </a:xfrm>
          <a:custGeom>
            <a:avLst/>
            <a:gdLst/>
            <a:ahLst/>
            <a:cxnLst/>
            <a:rect r="r" b="b" t="t" l="l"/>
            <a:pathLst>
              <a:path h="745931" w="619301">
                <a:moveTo>
                  <a:pt x="0" y="0"/>
                </a:moveTo>
                <a:lnTo>
                  <a:pt x="619301" y="0"/>
                </a:lnTo>
                <a:lnTo>
                  <a:pt x="619301" y="745931"/>
                </a:lnTo>
                <a:lnTo>
                  <a:pt x="0" y="74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11" y="365533"/>
            <a:ext cx="1491990" cy="1491990"/>
          </a:xfrm>
          <a:custGeom>
            <a:avLst/>
            <a:gdLst/>
            <a:ahLst/>
            <a:cxnLst/>
            <a:rect r="r" b="b" t="t" l="l"/>
            <a:pathLst>
              <a:path h="1491990" w="1491990">
                <a:moveTo>
                  <a:pt x="0" y="0"/>
                </a:moveTo>
                <a:lnTo>
                  <a:pt x="1491990" y="0"/>
                </a:lnTo>
                <a:lnTo>
                  <a:pt x="1491990" y="1491989"/>
                </a:lnTo>
                <a:lnTo>
                  <a:pt x="0" y="149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61177" y="3863516"/>
            <a:ext cx="6863595" cy="3419318"/>
          </a:xfrm>
          <a:custGeom>
            <a:avLst/>
            <a:gdLst/>
            <a:ahLst/>
            <a:cxnLst/>
            <a:rect r="r" b="b" t="t" l="l"/>
            <a:pathLst>
              <a:path h="3419318" w="6863595">
                <a:moveTo>
                  <a:pt x="0" y="0"/>
                </a:moveTo>
                <a:lnTo>
                  <a:pt x="6863595" y="0"/>
                </a:lnTo>
                <a:lnTo>
                  <a:pt x="6863595" y="3419319"/>
                </a:lnTo>
                <a:lnTo>
                  <a:pt x="0" y="34193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68701" y="351835"/>
            <a:ext cx="9550598" cy="248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VIDEO 2 PPT</a:t>
            </a:r>
          </a:p>
          <a:p>
            <a:pPr algn="ctr">
              <a:lnSpc>
                <a:spcPts val="6412"/>
              </a:lnSpc>
            </a:pPr>
            <a:r>
              <a:rPr lang="en-US" sz="4580">
                <a:solidFill>
                  <a:srgbClr val="FF751F"/>
                </a:solidFill>
                <a:latin typeface="Bugaki"/>
                <a:ea typeface="Bugaki"/>
                <a:cs typeface="Bugaki"/>
                <a:sym typeface="Bugaki"/>
              </a:rPr>
              <a:t>Python Mastery Course 2026</a:t>
            </a:r>
          </a:p>
          <a:p>
            <a:pPr algn="ctr">
              <a:lnSpc>
                <a:spcPts val="641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511176" y="522711"/>
            <a:ext cx="2493214" cy="67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e</a:t>
            </a:r>
            <a:r>
              <a:rPr lang="en-US" sz="4405" spc="66">
                <a:solidFill>
                  <a:srgbClr val="FFF6EA"/>
                </a:solidFill>
                <a:latin typeface="Agbalumo"/>
                <a:ea typeface="Agbalumo"/>
                <a:cs typeface="Agbalumo"/>
                <a:sym typeface="Agbalumo"/>
              </a:rPr>
              <a:t>dgeLab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72143" y="2055985"/>
            <a:ext cx="7585017" cy="680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sz="3845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Next Video</a:t>
            </a:r>
          </a:p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sz="3845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Question Practice Session</a:t>
            </a:r>
          </a:p>
          <a:p>
            <a:pPr algn="ctr">
              <a:lnSpc>
                <a:spcPts val="5383"/>
              </a:lnSpc>
              <a:spcBef>
                <a:spcPct val="0"/>
              </a:spcBef>
            </a:pPr>
          </a:p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sz="384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Topics:</a:t>
            </a:r>
          </a:p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sz="384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Variables</a:t>
            </a:r>
          </a:p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sz="384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Types</a:t>
            </a:r>
          </a:p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sz="384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Arithmetic Operators</a:t>
            </a:r>
          </a:p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sz="384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Strings</a:t>
            </a:r>
          </a:p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sz="384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Type Conversion</a:t>
            </a:r>
          </a:p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sz="384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Get Ready To Code!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DAHNftpTnas</dc:identifier>
  <dcterms:modified xsi:type="dcterms:W3CDTF">2011-08-01T06:04:30Z</dcterms:modified>
  <cp:revision>1</cp:revision>
  <dc:title>VIDEO 2 PPT Python Mastery Course 2026</dc:title>
</cp:coreProperties>
</file>